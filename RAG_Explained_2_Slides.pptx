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F172A"/>
                </a:solidFill>
                <a:latin typeface="Calibri"/>
              </a:defRPr>
            </a:pPr>
            <a:r>
              <a:t>What Is RAG — and Why Do We Need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t>Retrieval-Augmented Generation: before answering, the AI looks up the most relevant pieces of YOUR data and answers from those.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  R  —  Retrieval</a:t>
            </a:r>
          </a:p>
          <a:p>
            <a:pPr algn="l">
              <a:defRPr sz="1300">
                <a:solidFill>
                  <a:srgbClr val="64748B"/>
                </a:solidFill>
                <a:latin typeface="Calibri"/>
              </a:defRPr>
            </a:pPr>
            <a:r>
              <a:t>  Search your data for the most relevant pieces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59" y="1371600"/>
            <a:ext cx="3383280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  A  —  Augment</a:t>
            </a:r>
          </a:p>
          <a:p>
            <a:pPr algn="l">
              <a:defRPr sz="1300">
                <a:solidFill>
                  <a:srgbClr val="64748B"/>
                </a:solidFill>
                <a:latin typeface="Calibri"/>
              </a:defRPr>
            </a:pPr>
            <a:r>
              <a:t>  Add those pieces to the prompt as context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371600"/>
            <a:ext cx="3383280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  G  —  Generation</a:t>
            </a:r>
          </a:p>
          <a:p>
            <a:pPr algn="l">
              <a:defRPr sz="1300">
                <a:solidFill>
                  <a:srgbClr val="64748B"/>
                </a:solidFill>
                <a:latin typeface="Calibri"/>
              </a:defRPr>
            </a:pPr>
            <a:r>
              <a:t>  The LLM answers using only that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F172A"/>
                </a:solidFill>
                <a:latin typeface="Calibri"/>
              </a:defRPr>
            </a:pPr>
            <a:r>
              <a:t>Why is it needed?  Three problems with a plain LLM: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17520"/>
            <a:ext cx="3383280" cy="1600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bIns="91440"/>
          <a:lstStyle/>
          <a:p>
            <a:pPr algn="ctr">
              <a:spcAft>
                <a:spcPts val="600"/>
              </a:spcAft>
              <a:defRPr sz="1700" b="1">
                <a:solidFill>
                  <a:srgbClr val="0F172A"/>
                </a:solidFill>
                <a:latin typeface="Calibri"/>
              </a:defRPr>
            </a:pPr>
            <a:r>
              <a:t>🤯  Hallucination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LLMs confidently make things up.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Grounding answers in retrieved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documents forces the model to stick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to facts that actually exist.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3017520"/>
            <a:ext cx="3383280" cy="1600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bIns="91440"/>
          <a:lstStyle/>
          <a:p>
            <a:pPr algn="ctr">
              <a:spcAft>
                <a:spcPts val="600"/>
              </a:spcAft>
              <a:defRPr sz="1700" b="1">
                <a:solidFill>
                  <a:srgbClr val="0F172A"/>
                </a:solidFill>
                <a:latin typeface="Calibri"/>
              </a:defRPr>
            </a:pPr>
            <a:r>
              <a:t>📅  Frozen, generic knowledge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A model only knows its training data.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Your private, domain-specific or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recently added data simply isn't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in there — retrieval brings it 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017520"/>
            <a:ext cx="3383280" cy="1600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bIns="91440"/>
          <a:lstStyle/>
          <a:p>
            <a:pPr algn="ctr">
              <a:spcAft>
                <a:spcPts val="600"/>
              </a:spcAft>
              <a:defRPr sz="1700" b="1">
                <a:solidFill>
                  <a:srgbClr val="0F172A"/>
                </a:solidFill>
                <a:latin typeface="Calibri"/>
              </a:defRPr>
            </a:pPr>
            <a:r>
              <a:t>📏  Context windows are finite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You can't paste everything into a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prompt — there's a hard size limit,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and every token costs money.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Retrieval sends only what matters.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512064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bIns="91440"/>
          <a:lstStyle/>
          <a:p>
            <a:pPr algn="ctr">
              <a:spcAft>
                <a:spcPts val="600"/>
              </a:spcAft>
              <a:defRPr sz="1700" b="1">
                <a:solidFill>
                  <a:srgbClr val="0F172A"/>
                </a:solidFill>
                <a:latin typeface="Calibri"/>
              </a:defRPr>
            </a:pPr>
            <a:r>
              <a:t>🏗️  Step 1 — Indexing (done once, offline)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Split your documents into chunks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Turn each chunk into an embedding (a 'meaning fingerprint')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Store the embeddings in a vector database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754880"/>
            <a:ext cx="5120640" cy="1645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 bIns="91440"/>
          <a:lstStyle/>
          <a:p>
            <a:pPr algn="ctr">
              <a:spcAft>
                <a:spcPts val="600"/>
              </a:spcAft>
              <a:defRPr sz="1700" b="1">
                <a:solidFill>
                  <a:srgbClr val="0F172A"/>
                </a:solidFill>
                <a:latin typeface="Calibri"/>
              </a:defRPr>
            </a:pPr>
            <a:r>
              <a:t>🔍  Step 2 — Querying (every question)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Embed the user's question the same way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Find the top-k most similar chunks (semantic search)</a:t>
            </a:r>
          </a:p>
          <a:p>
            <a:pPr>
              <a:spcAft>
                <a:spcPts val="3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Add them to the prompt → LLM answers from that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1 /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F172A"/>
                </a:solidFill>
                <a:latin typeface="Calibri"/>
              </a:defRPr>
            </a:pPr>
            <a:r>
              <a:t>RAG vs. Pasting Your Data Into the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t>Today the project hands the model its context as a whole JSON file or README.md in the prompt. That works — until the data grows.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212080" cy="30632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DC2626"/>
                </a:solidFill>
                <a:latin typeface="Calibri"/>
              </a:defRPr>
            </a:pPr>
            <a:r>
              <a:t>📄  Pasting the file in (JSON / README.md)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F172A"/>
                </a:solidFill>
                <a:latin typeface="Calibri"/>
              </a:defRPr>
            </a:pPr>
            <a:r>
              <a:t>• The whole file is re-sent with every request — you pay for</a:t>
            </a:r>
            <a:br/>
            <a:r>
              <a:t>   every token, every single call</a:t>
            </a:r>
            <a:br/>
            <a:r>
              <a:t>• Hits the context-window ceiling as the data grows</a:t>
            </a:r>
            <a:br/>
            <a:r>
              <a:t>• The model must find the needle in the haystack itself —</a:t>
            </a:r>
            <a:br/>
            <a:r>
              <a:t>   irrelevant content dilutes attention ('lost in the middle')</a:t>
            </a:r>
            <a:br/>
            <a:r>
              <a:t>• Finding relevant info relies on the model scanning raw text,</a:t>
            </a:r>
            <a:br/>
            <a:r>
              <a:t>   not on search built for the job</a:t>
            </a:r>
            <a:br/>
            <a:r>
              <a:t>• No record of which part of the file the answer came from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17320"/>
            <a:ext cx="5212080" cy="3063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6A34A"/>
                </a:solidFill>
                <a:latin typeface="Calibri"/>
              </a:defRPr>
            </a:pPr>
            <a:r>
              <a:t>🔍  RAG (retrieve, then generate)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874519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F172A"/>
                </a:solidFill>
                <a:latin typeface="Calibri"/>
              </a:defRPr>
            </a:pPr>
            <a:r>
              <a:t>• Only the top few relevant chunks are sent — prompts stay</a:t>
            </a:r>
            <a:br/>
            <a:r>
              <a:t>   small, cheap and fast no matter how big the dataset gets</a:t>
            </a:r>
            <a:br/>
            <a:r>
              <a:t>• Scales to thousands or millions of documents</a:t>
            </a:r>
            <a:br/>
            <a:r>
              <a:t>• Focused context → sharper, better-grounded answers</a:t>
            </a:r>
            <a:br/>
            <a:r>
              <a:t>• Semantic search matches by meaning: 'calf' finds 'calves',</a:t>
            </a:r>
            <a:br/>
            <a:r>
              <a:t>   'heel raise', 'gastrocnemius' — keywords alone would miss it</a:t>
            </a:r>
            <a:br/>
            <a:r>
              <a:t>• Retrieved chunks double as citations — every answer is</a:t>
            </a:r>
            <a:br/>
            <a:r>
              <a:t>   traceable back to its source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709160"/>
            <a:ext cx="10789920" cy="16002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7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700" b="1">
                <a:solidFill>
                  <a:srgbClr val="0F172A"/>
                </a:solidFill>
                <a:latin typeface="Calibri"/>
              </a:defRPr>
            </a:pPr>
            <a:r>
              <a:t>⚖️  So when is pasting the file actually fine?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Calibri"/>
              </a:defRPr>
            </a:pPr>
            <a:r>
              <a:t>If the data is small, stable and comfortably fits in the prompt, stuffing it in is simpler — and perfectly reasonable. RAG pays off once the data is large, keeps growing, or you care about token cost, answer quality and traceability.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💡  Rule of thumb: prompt-stuffing makes the model read everything; RAG lets it read only what matters.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2 /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