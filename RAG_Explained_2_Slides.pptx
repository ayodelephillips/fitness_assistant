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 panose="020F0502020204030204"/>
              </a:defRPr>
            </a:pPr>
            <a:r>
              <a:t>What Is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 panose="020F0502020204030204"/>
              </a:defRPr>
            </a:pPr>
            <a:r>
              <a:t>Retrieval-Augmented Generation — making AI answer questions using YOUR data, not just what it learned from the internet.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0F172A"/>
                </a:solidFill>
                <a:latin typeface="Calibri" panose="020F0502020204030204"/>
              </a:defRPr>
            </a:pPr>
            <a:r>
              <a:t>  R  —  Retrieval</a:t>
            </a:r>
          </a:p>
          <a:p>
            <a:pPr algn="l">
              <a:defRPr sz="1500">
                <a:solidFill>
                  <a:srgbClr val="64748B"/>
                </a:solidFill>
                <a:latin typeface="Calibri" panose="020F0502020204030204"/>
              </a:defRPr>
            </a:pPr>
            <a:r>
              <a:t>  Find relevant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554480"/>
            <a:ext cx="329184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0F172A"/>
                </a:solidFill>
                <a:latin typeface="Calibri" panose="020F0502020204030204"/>
              </a:defRPr>
            </a:pPr>
            <a:r>
              <a:t>  A  —  Augment</a:t>
            </a:r>
          </a:p>
          <a:p>
            <a:pPr algn="l">
              <a:defRPr sz="1500">
                <a:solidFill>
                  <a:srgbClr val="64748B"/>
                </a:solidFill>
                <a:latin typeface="Calibri" panose="020F0502020204030204"/>
              </a:defRPr>
            </a:pPr>
            <a:r>
              <a:t>  Add them as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29184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0F172A"/>
                </a:solidFill>
                <a:latin typeface="Calibri" panose="020F0502020204030204"/>
              </a:defRPr>
            </a:pPr>
            <a:r>
              <a:t>  G  —  Generation</a:t>
            </a:r>
          </a:p>
          <a:p>
            <a:pPr algn="l">
              <a:defRPr sz="1500">
                <a:solidFill>
                  <a:srgbClr val="64748B"/>
                </a:solidFill>
                <a:latin typeface="Calibri" panose="020F0502020204030204"/>
              </a:defRPr>
            </a:pPr>
            <a:r>
              <a:t>  AI answers from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69848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000" b="1">
                <a:solidFill>
                  <a:srgbClr val="0F172A"/>
                </a:solidFill>
                <a:latin typeface="Calibri" panose="020F0502020204030204"/>
              </a:defRPr>
            </a:pPr>
            <a:r>
              <a:t>📁  The Filing Cabinet Analogy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 panose="020F0502020204030204"/>
              </a:defRPr>
            </a:pPr>
            <a:r>
              <a:t>Imagine you're a personal trainer (the AI) with a filing cabinet of 500 exercise cards (your database). A client asks: "Give me exercises for my calf."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C2626"/>
                </a:solidFill>
                <a:latin typeface="Calibri" panose="020F0502020204030204"/>
              </a:defRPr>
            </a:pPr>
            <a:r>
              <a:t>❌  Without RAG: You guess from memory — you might invent exercises or get muscles wrong.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6A34A"/>
                </a:solidFill>
                <a:latin typeface="Calibri" panose="020F0502020204030204"/>
              </a:defRPr>
            </a:pPr>
            <a:r>
              <a:t>✅  With RAG: You pull the 3 most relevant cards and answer using ONLY what's on those cards.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51206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bIns="9144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F172A"/>
                </a:solidFill>
                <a:latin typeface="Calibri" panose="020F0502020204030204"/>
              </a:defRPr>
            </a:pPr>
            <a:r>
              <a:t>🏗️  Phase 1: Indexing (Setup)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Each exercise → 'vector fingerprint' (unique number pattern)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Stored in a vector database (Qdrant)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Happens once, or when new exercises are added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754880"/>
            <a:ext cx="51206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bIns="9144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F172A"/>
                </a:solidFill>
                <a:latin typeface="Calibri" panose="020F0502020204030204"/>
              </a:defRPr>
            </a:pPr>
            <a:r>
              <a:t>🔍  Phase 2: Querying (Every Question)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Your question → same fingerprint type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DB finds 3 most similar fingerprints (semantic search)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Gemini answers using ONLY those 3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Calibri" panose="020F0502020204030204"/>
              </a:defRPr>
            </a:pPr>
            <a: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 panose="020F0502020204030204"/>
              </a:defRPr>
            </a:pPr>
            <a:r>
              <a:t>Why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 panose="020F0502020204030204"/>
              </a:defRPr>
            </a:pPr>
            <a:r>
              <a:t>Three big problems that RAG solves — and what happens without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bIns="9144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F172A"/>
                </a:solidFill>
                <a:latin typeface="Calibri" panose="020F0502020204030204"/>
              </a:defRPr>
            </a:pPr>
            <a:r>
              <a:t>🚫  No Hallucination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AI is forced to answer only from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retrieved documents.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Without RAG: AI might invent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fake exercises or wrong muscles.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463040"/>
            <a:ext cx="338328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bIns="9144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F172A"/>
                </a:solidFill>
                <a:latin typeface="Calibri" panose="020F0502020204030204"/>
              </a:defRPr>
            </a:pPr>
            <a:r>
              <a:t>🔄  Always Up-To-Date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Add a new exercise to your JSON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file → re-run vector embedding.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No retraining, no fine-tuning,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no model updates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63040"/>
            <a:ext cx="338328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bIns="9144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F172A"/>
                </a:solidFill>
                <a:latin typeface="Calibri" panose="020F0502020204030204"/>
              </a:defRPr>
            </a:pPr>
            <a:r>
              <a:t>🧠  Understands Meaning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"calf" matches "Calves", "heel raise",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"gastrocnemius", "lower leg".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Keyword search would fail.</a:t>
            </a:r>
          </a:p>
          <a:p>
            <a:pPr>
              <a:spcAft>
                <a:spcPts val="400"/>
              </a:spcAft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Semantic search understands intent.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 panose="020F0502020204030204"/>
              </a:defRPr>
            </a:pPr>
            <a:r>
              <a:t>Before &amp; After 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212080" cy="182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DC2626"/>
                </a:solidFill>
                <a:latin typeface="Calibri" panose="020F0502020204030204"/>
              </a:defRPr>
            </a:pPr>
            <a:r>
              <a:t>❌  Without RAG (LLM-only)</a:t>
            </a:r>
          </a:p>
          <a:p>
            <a:pPr algn="l">
              <a:defRPr sz="1700" b="1">
                <a:solidFill>
                  <a:srgbClr val="DC2626"/>
                </a:solidFill>
                <a:latin typeface="Calibri" panose="020F0502020204030204"/>
              </a:defRPr>
            </a:pPr>
          </a:p>
          <a:p>
            <a:pPr algn="l">
              <a:defRPr sz="1700" b="1">
                <a:solidFill>
                  <a:srgbClr val="DC2626"/>
                </a:solidFill>
                <a:latin typeface="Calibri" panose="020F0502020204030204"/>
              </a:defRPr>
            </a:pPr>
          </a:p>
          <a:p>
            <a:pPr algn="l">
              <a:defRPr sz="1700" b="1">
                <a:solidFill>
                  <a:srgbClr val="DC2626"/>
                </a:solidFill>
                <a:latin typeface="Calibri" panose="020F0502020204030204"/>
              </a:defRPr>
            </a:pPr>
          </a:p>
          <a:p>
            <a:pPr algn="l">
              <a:defRPr sz="1700" b="1">
                <a:solidFill>
                  <a:srgbClr val="DC2626"/>
                </a:solidFill>
                <a:latin typeface="Calibri" panose="020F0502020204030204"/>
              </a:defRPr>
            </a:pPr>
          </a:p>
          <a:p>
            <a:pPr algn="l">
              <a:defRPr sz="1700" b="1">
                <a:solidFill>
                  <a:srgbClr val="DC2626"/>
                </a:solidFill>
                <a:latin typeface="Calibri" panose="020F0502020204030204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 panose="020F0502020204030204"/>
              </a:defRPr>
            </a:pPr>
            <a:r>
              <a:t>• May invent exercises that don't exist</a:t>
            </a:r>
            <a:br/>
            <a:r>
              <a:t>• Might recommend wrong equipment</a:t>
            </a:r>
            <a:br/>
            <a:r>
              <a:t>• Can't access new data without retraining</a:t>
            </a:r>
            <a:br/>
            <a:r>
              <a:t>• No traceability — where did that answer come from?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572000"/>
            <a:ext cx="5212080" cy="18288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700" b="1">
                <a:solidFill>
                  <a:srgbClr val="16A34A"/>
                </a:solidFill>
                <a:latin typeface="Calibri" panose="020F0502020204030204"/>
              </a:defRPr>
            </a:pPr>
            <a:r>
              <a:t>✅  With RAG (Ours)</a:t>
            </a:r>
          </a:p>
          <a:p>
            <a:pPr algn="l">
              <a:defRPr sz="1700" b="1">
                <a:solidFill>
                  <a:srgbClr val="16A34A"/>
                </a:solidFill>
                <a:latin typeface="Calibri" panose="020F0502020204030204"/>
              </a:defRPr>
            </a:pPr>
          </a:p>
          <a:p>
            <a:pPr algn="l">
              <a:defRPr sz="1700" b="1">
                <a:solidFill>
                  <a:srgbClr val="16A34A"/>
                </a:solidFill>
                <a:latin typeface="Calibri" panose="020F0502020204030204"/>
              </a:defRPr>
            </a:pPr>
          </a:p>
          <a:p>
            <a:pPr algn="l">
              <a:defRPr sz="1700" b="1">
                <a:solidFill>
                  <a:srgbClr val="16A34A"/>
                </a:solidFill>
                <a:latin typeface="Calibri" panose="020F0502020204030204"/>
              </a:defRPr>
            </a:pPr>
          </a:p>
          <a:p>
            <a:pPr algn="l">
              <a:defRPr sz="1700" b="1">
                <a:solidFill>
                  <a:srgbClr val="16A34A"/>
                </a:solidFill>
                <a:latin typeface="Calibri" panose="020F0502020204030204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 panose="020F0502020204030204"/>
              </a:defRPr>
            </a:pPr>
            <a:r>
              <a:t>• Answers grounded in real exercise data</a:t>
            </a:r>
            <a:br/>
            <a:r>
              <a:t>• Correct equipment, muscles, body parts</a:t>
            </a:r>
            <a:br/>
            <a:r>
              <a:t>• Add exercises anytime — no retraining</a:t>
            </a:r>
            <a:br/>
            <a:r>
              <a:t>• Every answer traceable to source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Calibri" panose="020F0502020204030204"/>
              </a:defRPr>
            </a:pPr>
            <a: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1854</Words>
  <Application>WPS Presentation</Application>
  <PresentationFormat>On-screen Show (4:3)</PresentationFormat>
  <Paragraphs>79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ayode</cp:lastModifiedBy>
  <cp:revision>2</cp:revision>
  <dcterms:created xsi:type="dcterms:W3CDTF">2013-01-27T09:14:00Z</dcterms:created>
  <dcterms:modified xsi:type="dcterms:W3CDTF">2026-07-23T08:51:52Z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A76D6F5339574E708321506D37255C44_12</vt:lpwstr>
  </property>
</Properties>
</file>